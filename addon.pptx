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add4.jp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0A1626"/>
            <a:alpha val="52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38912"/>
            <a:ext cx="10058400" cy="274320"/>
          </a:xfrm>
          <a:prstGeom prst="rect">
            <a:avLst/>
          </a:prstGeom>
          <a:noFill/>
        </p:spPr>
        <p:txBody>
          <a:bodyPr wrap="square" lIns="0" rIns="0" tIns="0" bIns="0">
            <a:spAutoFit/>
          </a:bodyPr>
          <a:lstStyle/>
          <a:p>
            <a:pPr algn="l">
              <a:lnSpc>
                <a:spcPct val="115000"/>
              </a:lnSpc>
            </a:pPr>
            <a:r>
              <a:rPr sz="1100" b="1" i="0" spc="500">
                <a:solidFill>
                  <a:srgbClr val="E4C67C"/>
                </a:solidFill>
                <a:latin typeface="Inter"/>
              </a:rPr>
              <a:t>THE SOUL BLUEPRINT  ·  GOD ALREADY PUT IT IN YOU</a:t>
            </a:r>
          </a:p>
        </p:txBody>
      </p:sp>
      <p:cxnSp>
        <p:nvCxnSpPr>
          <p:cNvPr id="5" name="Connector 4"/>
          <p:cNvCxnSpPr/>
          <p:nvPr/>
        </p:nvCxnSpPr>
        <p:spPr>
          <a:xfrm>
            <a:off x="548640" y="731520"/>
            <a:ext cx="2926080" cy="0"/>
          </a:xfrm>
          <a:prstGeom prst="line">
            <a:avLst/>
          </a:prstGeom>
          <a:ln w="9525">
            <a:solidFill>
              <a:srgbClr val="E4C67C"/>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02920" y="859536"/>
            <a:ext cx="10972800" cy="640080"/>
          </a:xfrm>
          <a:prstGeom prst="rect">
            <a:avLst/>
          </a:prstGeom>
          <a:noFill/>
        </p:spPr>
        <p:txBody>
          <a:bodyPr wrap="square" lIns="0" rIns="0" tIns="0" bIns="0">
            <a:spAutoFit/>
          </a:bodyPr>
          <a:lstStyle/>
          <a:p>
            <a:pPr algn="l">
              <a:lnSpc>
                <a:spcPct val="115000"/>
              </a:lnSpc>
            </a:pPr>
            <a:r>
              <a:rPr sz="4400" b="0" i="1">
                <a:solidFill>
                  <a:srgbClr val="E4C67C"/>
                </a:solidFill>
                <a:latin typeface="Great Vibes"/>
              </a:rPr>
              <a:t>god already</a:t>
            </a:r>
          </a:p>
        </p:txBody>
      </p:sp>
      <p:sp>
        <p:nvSpPr>
          <p:cNvPr id="7" name="TextBox 6"/>
          <p:cNvSpPr txBox="1"/>
          <p:nvPr/>
        </p:nvSpPr>
        <p:spPr>
          <a:xfrm>
            <a:off x="548640" y="1554480"/>
            <a:ext cx="11247120" cy="640080"/>
          </a:xfrm>
          <a:prstGeom prst="rect">
            <a:avLst/>
          </a:prstGeom>
          <a:noFill/>
        </p:spPr>
        <p:txBody>
          <a:bodyPr wrap="square" lIns="0" rIns="0" tIns="0" bIns="0">
            <a:spAutoFit/>
          </a:bodyPr>
          <a:lstStyle/>
          <a:p>
            <a:pPr algn="l">
              <a:lnSpc>
                <a:spcPct val="90000"/>
              </a:lnSpc>
            </a:pPr>
            <a:r>
              <a:rPr sz="5200" b="1" i="0" spc="60">
                <a:solidFill>
                  <a:srgbClr val="F3F8FB"/>
                </a:solidFill>
                <a:latin typeface="Oswald"/>
              </a:rPr>
              <a:t>PUT IT IN YOU.</a:t>
            </a:r>
          </a:p>
        </p:txBody>
      </p:sp>
      <p:sp>
        <p:nvSpPr>
          <p:cNvPr id="8" name="TextBox 7"/>
          <p:cNvSpPr txBox="1"/>
          <p:nvPr/>
        </p:nvSpPr>
        <p:spPr>
          <a:xfrm>
            <a:off x="548640" y="2240280"/>
            <a:ext cx="5440680" cy="482091"/>
          </a:xfrm>
          <a:prstGeom prst="rect">
            <a:avLst/>
          </a:prstGeom>
          <a:noFill/>
        </p:spPr>
        <p:txBody>
          <a:bodyPr wrap="square" lIns="0" rIns="0" tIns="0" bIns="0">
            <a:spAutoFit/>
          </a:bodyPr>
          <a:lstStyle/>
          <a:p>
            <a:pPr algn="l">
              <a:lnSpc>
                <a:spcPct val="140000"/>
              </a:lnSpc>
            </a:pPr>
            <a:r>
              <a:rPr sz="1150" b="0" i="1">
                <a:solidFill>
                  <a:srgbClr val="F3F8FB"/>
                </a:solidFill>
                <a:latin typeface="Playfair Display"/>
              </a:rPr>
              <a:t>A fish knows how to swim. Not because it took swimming lessons. Because God already put the swim in the fish.</a:t>
            </a:r>
          </a:p>
        </p:txBody>
      </p:sp>
      <p:sp>
        <p:nvSpPr>
          <p:cNvPr id="9" name="TextBox 8"/>
          <p:cNvSpPr txBox="1"/>
          <p:nvPr/>
        </p:nvSpPr>
        <p:spPr>
          <a:xfrm>
            <a:off x="548640" y="2777236"/>
            <a:ext cx="5440680" cy="482091"/>
          </a:xfrm>
          <a:prstGeom prst="rect">
            <a:avLst/>
          </a:prstGeom>
          <a:noFill/>
        </p:spPr>
        <p:txBody>
          <a:bodyPr wrap="square" lIns="0" rIns="0" tIns="0" bIns="0">
            <a:spAutoFit/>
          </a:bodyPr>
          <a:lstStyle/>
          <a:p>
            <a:pPr algn="l">
              <a:lnSpc>
                <a:spcPct val="140000"/>
              </a:lnSpc>
            </a:pPr>
            <a:r>
              <a:rPr sz="1150" b="0" i="1">
                <a:solidFill>
                  <a:srgbClr val="F3F8FB"/>
                </a:solidFill>
                <a:latin typeface="Playfair Display"/>
              </a:rPr>
              <a:t>A bird knows how to fly. Not because it studied flight. Because God already put the fly in the bird.</a:t>
            </a:r>
          </a:p>
        </p:txBody>
      </p:sp>
      <p:sp>
        <p:nvSpPr>
          <p:cNvPr id="10" name="TextBox 9"/>
          <p:cNvSpPr txBox="1"/>
          <p:nvPr/>
        </p:nvSpPr>
        <p:spPr>
          <a:xfrm>
            <a:off x="548640" y="3314192"/>
            <a:ext cx="5440680" cy="482091"/>
          </a:xfrm>
          <a:prstGeom prst="rect">
            <a:avLst/>
          </a:prstGeom>
          <a:noFill/>
        </p:spPr>
        <p:txBody>
          <a:bodyPr wrap="square" lIns="0" rIns="0" tIns="0" bIns="0">
            <a:spAutoFit/>
          </a:bodyPr>
          <a:lstStyle/>
          <a:p>
            <a:pPr algn="l">
              <a:lnSpc>
                <a:spcPct val="140000"/>
              </a:lnSpc>
            </a:pPr>
            <a:r>
              <a:rPr sz="1150" b="0" i="1">
                <a:solidFill>
                  <a:srgbClr val="F3F8FB"/>
                </a:solidFill>
                <a:latin typeface="Playfair Display"/>
              </a:rPr>
              <a:t>A seed does not need gardening lessons to become a tree. Because God already put the tree in the seed.</a:t>
            </a:r>
          </a:p>
        </p:txBody>
      </p:sp>
      <p:sp>
        <p:nvSpPr>
          <p:cNvPr id="11" name="TextBox 10"/>
          <p:cNvSpPr txBox="1"/>
          <p:nvPr/>
        </p:nvSpPr>
        <p:spPr>
          <a:xfrm>
            <a:off x="548640" y="3851148"/>
            <a:ext cx="5440680" cy="482091"/>
          </a:xfrm>
          <a:prstGeom prst="rect">
            <a:avLst/>
          </a:prstGeom>
          <a:noFill/>
        </p:spPr>
        <p:txBody>
          <a:bodyPr wrap="square" lIns="0" rIns="0" tIns="0" bIns="0">
            <a:spAutoFit/>
          </a:bodyPr>
          <a:lstStyle/>
          <a:p>
            <a:pPr algn="l">
              <a:lnSpc>
                <a:spcPct val="140000"/>
              </a:lnSpc>
            </a:pPr>
            <a:r>
              <a:rPr sz="1150" b="0" i="1">
                <a:solidFill>
                  <a:srgbClr val="F3F8FB"/>
                </a:solidFill>
                <a:latin typeface="Playfair Display"/>
              </a:rPr>
              <a:t>Success is not something you have to go find. Success is not something you have to earn your way to. Success is not the exception.</a:t>
            </a:r>
          </a:p>
        </p:txBody>
      </p:sp>
      <p:sp>
        <p:nvSpPr>
          <p:cNvPr id="12" name="TextBox 11"/>
          <p:cNvSpPr txBox="1"/>
          <p:nvPr/>
        </p:nvSpPr>
        <p:spPr>
          <a:xfrm>
            <a:off x="548640" y="4388104"/>
            <a:ext cx="5440680" cy="277622"/>
          </a:xfrm>
          <a:prstGeom prst="rect">
            <a:avLst/>
          </a:prstGeom>
          <a:noFill/>
        </p:spPr>
        <p:txBody>
          <a:bodyPr wrap="square" lIns="0" rIns="0" tIns="0" bIns="0">
            <a:spAutoFit/>
          </a:bodyPr>
          <a:lstStyle/>
          <a:p>
            <a:pPr algn="l">
              <a:lnSpc>
                <a:spcPct val="140000"/>
              </a:lnSpc>
            </a:pPr>
            <a:r>
              <a:rPr sz="1150" b="1" i="1">
                <a:solidFill>
                  <a:srgbClr val="E4C67C"/>
                </a:solidFill>
                <a:latin typeface="Playfair Display"/>
              </a:rPr>
              <a:t>Success is the default.</a:t>
            </a:r>
          </a:p>
        </p:txBody>
      </p:sp>
      <p:cxnSp>
        <p:nvCxnSpPr>
          <p:cNvPr id="13" name="Connector 12"/>
          <p:cNvCxnSpPr/>
          <p:nvPr/>
        </p:nvCxnSpPr>
        <p:spPr>
          <a:xfrm>
            <a:off x="6144768" y="2240280"/>
            <a:ext cx="0" cy="3017520"/>
          </a:xfrm>
          <a:prstGeom prst="line">
            <a:avLst/>
          </a:prstGeom>
          <a:ln w="6350">
            <a:solidFill>
              <a:srgbClr val="E4C67C"/>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6355080" y="2240280"/>
            <a:ext cx="5440680" cy="482091"/>
          </a:xfrm>
          <a:prstGeom prst="rect">
            <a:avLst/>
          </a:prstGeom>
          <a:noFill/>
        </p:spPr>
        <p:txBody>
          <a:bodyPr wrap="square" lIns="0" rIns="0" tIns="0" bIns="0">
            <a:spAutoFit/>
          </a:bodyPr>
          <a:lstStyle/>
          <a:p>
            <a:pPr algn="l">
              <a:lnSpc>
                <a:spcPct val="140000"/>
              </a:lnSpc>
            </a:pPr>
            <a:r>
              <a:rPr sz="1150" b="0" i="1">
                <a:solidFill>
                  <a:srgbClr val="F3F8FB"/>
                </a:solidFill>
                <a:latin typeface="Playfair Display"/>
              </a:rPr>
              <a:t>It is already built into you. It was placed there before you took your first breath.</a:t>
            </a:r>
          </a:p>
        </p:txBody>
      </p:sp>
      <p:sp>
        <p:nvSpPr>
          <p:cNvPr id="15" name="TextBox 14"/>
          <p:cNvSpPr txBox="1"/>
          <p:nvPr/>
        </p:nvSpPr>
        <p:spPr>
          <a:xfrm>
            <a:off x="6355080" y="2777236"/>
            <a:ext cx="5440680" cy="482091"/>
          </a:xfrm>
          <a:prstGeom prst="rect">
            <a:avLst/>
          </a:prstGeom>
          <a:noFill/>
        </p:spPr>
        <p:txBody>
          <a:bodyPr wrap="square" lIns="0" rIns="0" tIns="0" bIns="0">
            <a:spAutoFit/>
          </a:bodyPr>
          <a:lstStyle/>
          <a:p>
            <a:pPr algn="l">
              <a:lnSpc>
                <a:spcPct val="140000"/>
              </a:lnSpc>
            </a:pPr>
            <a:r>
              <a:rPr sz="1150" b="0" i="1">
                <a:solidFill>
                  <a:srgbClr val="F3F8FB"/>
                </a:solidFill>
                <a:latin typeface="Playfair Display"/>
              </a:rPr>
              <a:t>What people miss is they spend their entire lives trying to become something they already are.</a:t>
            </a:r>
          </a:p>
        </p:txBody>
      </p:sp>
      <p:sp>
        <p:nvSpPr>
          <p:cNvPr id="16" name="TextBox 15"/>
          <p:cNvSpPr txBox="1"/>
          <p:nvPr/>
        </p:nvSpPr>
        <p:spPr>
          <a:xfrm>
            <a:off x="6355080" y="3314192"/>
            <a:ext cx="5440680" cy="686561"/>
          </a:xfrm>
          <a:prstGeom prst="rect">
            <a:avLst/>
          </a:prstGeom>
          <a:noFill/>
        </p:spPr>
        <p:txBody>
          <a:bodyPr wrap="square" lIns="0" rIns="0" tIns="0" bIns="0">
            <a:spAutoFit/>
          </a:bodyPr>
          <a:lstStyle/>
          <a:p>
            <a:pPr algn="l">
              <a:lnSpc>
                <a:spcPct val="140000"/>
              </a:lnSpc>
            </a:pPr>
            <a:r>
              <a:rPr sz="1150" b="0" i="1">
                <a:solidFill>
                  <a:srgbClr val="F3F8FB"/>
                </a:solidFill>
                <a:latin typeface="Playfair Display"/>
              </a:rPr>
              <a:t>A fish looks strange on concrete. A seal struggles in the open ocean. A bird flounders in water. They are not failures. They are not broken. They are not behind. They are simply in the wrong environment.</a:t>
            </a:r>
          </a:p>
        </p:txBody>
      </p:sp>
      <p:sp>
        <p:nvSpPr>
          <p:cNvPr id="17" name="TextBox 16"/>
          <p:cNvSpPr txBox="1"/>
          <p:nvPr/>
        </p:nvSpPr>
        <p:spPr>
          <a:xfrm>
            <a:off x="6355080" y="4055617"/>
            <a:ext cx="5440680" cy="482091"/>
          </a:xfrm>
          <a:prstGeom prst="rect">
            <a:avLst/>
          </a:prstGeom>
          <a:noFill/>
        </p:spPr>
        <p:txBody>
          <a:bodyPr wrap="square" lIns="0" rIns="0" tIns="0" bIns="0">
            <a:spAutoFit/>
          </a:bodyPr>
          <a:lstStyle/>
          <a:p>
            <a:pPr algn="l">
              <a:lnSpc>
                <a:spcPct val="140000"/>
              </a:lnSpc>
            </a:pPr>
            <a:r>
              <a:rPr sz="1150" b="0" i="1">
                <a:solidFill>
                  <a:srgbClr val="F3F8FB"/>
                </a:solidFill>
                <a:latin typeface="Playfair Display"/>
              </a:rPr>
              <a:t>Put yourself in the right environment and you will not have to force success. You will simply express it. Because it was always already in you.</a:t>
            </a:r>
          </a:p>
        </p:txBody>
      </p:sp>
      <p:cxnSp>
        <p:nvCxnSpPr>
          <p:cNvPr id="18" name="Connector 17"/>
          <p:cNvCxnSpPr/>
          <p:nvPr/>
        </p:nvCxnSpPr>
        <p:spPr>
          <a:xfrm>
            <a:off x="2377440" y="5943600"/>
            <a:ext cx="7406640" cy="0"/>
          </a:xfrm>
          <a:prstGeom prst="line">
            <a:avLst/>
          </a:prstGeom>
          <a:ln w="7620">
            <a:solidFill>
              <a:srgbClr val="E4C67C"/>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1188720" y="6053328"/>
            <a:ext cx="9784080" cy="640080"/>
          </a:xfrm>
          <a:prstGeom prst="rect">
            <a:avLst/>
          </a:prstGeom>
          <a:noFill/>
        </p:spPr>
        <p:txBody>
          <a:bodyPr wrap="square" lIns="0" rIns="0" tIns="0" bIns="0">
            <a:spAutoFit/>
          </a:bodyPr>
          <a:lstStyle/>
          <a:p>
            <a:pPr algn="ctr">
              <a:lnSpc>
                <a:spcPct val="140000"/>
              </a:lnSpc>
            </a:pPr>
            <a:r>
              <a:rPr sz="1350" b="1" i="1">
                <a:solidFill>
                  <a:srgbClr val="E4C67C"/>
                </a:solidFill>
                <a:latin typeface="Playfair Display"/>
              </a:rPr>
              <a:t>Human Design is not telling you who to become. It is showing you what God already put in you before anyone told you who you were supposed to be.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add7.jp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2286000"/>
          </a:xfrm>
          <a:prstGeom prst="rect">
            <a:avLst/>
          </a:prstGeom>
          <a:ln>
            <a:noFill/>
          </a:ln>
          <a:gradFill flip="none" rotWithShape="1">
            <a:gsLst>
              <a:gs pos="0">
                <a:srgbClr val="0A1626">
                  <a:alpha val="74000"/>
                </a:srgbClr>
              </a:gs>
              <a:gs pos="70000">
                <a:srgbClr val="0A1626">
                  <a:alpha val="29600"/>
                </a:srgbClr>
              </a:gs>
              <a:gs pos="100000">
                <a:srgbClr val="0A1626">
                  <a:alpha val="0"/>
                </a:srgbClr>
              </a:gs>
            </a:gsLst>
            <a:lin ang="540000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2103120"/>
            <a:ext cx="12191695" cy="4754880"/>
          </a:xfrm>
          <a:prstGeom prst="rect">
            <a:avLst/>
          </a:prstGeom>
          <a:solidFill>
            <a:srgbClr val="0A1626"/>
            <a:alpha val="7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457200"/>
            <a:ext cx="10058400" cy="274320"/>
          </a:xfrm>
          <a:prstGeom prst="rect">
            <a:avLst/>
          </a:prstGeom>
          <a:noFill/>
        </p:spPr>
        <p:txBody>
          <a:bodyPr wrap="square" lIns="0" rIns="0" tIns="0" bIns="0">
            <a:spAutoFit/>
          </a:bodyPr>
          <a:lstStyle/>
          <a:p>
            <a:pPr algn="l">
              <a:lnSpc>
                <a:spcPct val="115000"/>
              </a:lnSpc>
            </a:pPr>
            <a:r>
              <a:rPr sz="1100" b="1" i="0" spc="500">
                <a:solidFill>
                  <a:srgbClr val="E4C67C"/>
                </a:solidFill>
                <a:latin typeface="Inter"/>
              </a:rPr>
              <a:t>ASTROLOGY AND YOUR BUSINESS  ·  YOUR TIMING</a:t>
            </a:r>
          </a:p>
        </p:txBody>
      </p:sp>
      <p:cxnSp>
        <p:nvCxnSpPr>
          <p:cNvPr id="6" name="Connector 5"/>
          <p:cNvCxnSpPr/>
          <p:nvPr/>
        </p:nvCxnSpPr>
        <p:spPr>
          <a:xfrm>
            <a:off x="548640" y="749808"/>
            <a:ext cx="2926080" cy="0"/>
          </a:xfrm>
          <a:prstGeom prst="line">
            <a:avLst/>
          </a:prstGeom>
          <a:ln w="9525">
            <a:solidFill>
              <a:srgbClr val="E4C67C"/>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877824"/>
            <a:ext cx="10972800" cy="640080"/>
          </a:xfrm>
          <a:prstGeom prst="rect">
            <a:avLst/>
          </a:prstGeom>
          <a:noFill/>
        </p:spPr>
        <p:txBody>
          <a:bodyPr wrap="square" lIns="0" rIns="0" tIns="0" bIns="0">
            <a:spAutoFit/>
          </a:bodyPr>
          <a:lstStyle/>
          <a:p>
            <a:pPr algn="l">
              <a:lnSpc>
                <a:spcPct val="115000"/>
              </a:lnSpc>
            </a:pPr>
            <a:r>
              <a:rPr sz="4400" b="0" i="1">
                <a:solidFill>
                  <a:srgbClr val="E4C67C"/>
                </a:solidFill>
                <a:latin typeface="Great Vibes"/>
              </a:rPr>
              <a:t>astrology is your</a:t>
            </a:r>
          </a:p>
        </p:txBody>
      </p:sp>
      <p:sp>
        <p:nvSpPr>
          <p:cNvPr id="8" name="TextBox 7"/>
          <p:cNvSpPr txBox="1"/>
          <p:nvPr/>
        </p:nvSpPr>
        <p:spPr>
          <a:xfrm>
            <a:off x="548640" y="1572768"/>
            <a:ext cx="11247120" cy="640080"/>
          </a:xfrm>
          <a:prstGeom prst="rect">
            <a:avLst/>
          </a:prstGeom>
          <a:noFill/>
        </p:spPr>
        <p:txBody>
          <a:bodyPr wrap="square" lIns="0" rIns="0" tIns="0" bIns="0">
            <a:spAutoFit/>
          </a:bodyPr>
          <a:lstStyle/>
          <a:p>
            <a:pPr algn="l">
              <a:lnSpc>
                <a:spcPct val="90000"/>
              </a:lnSpc>
            </a:pPr>
            <a:r>
              <a:rPr sz="5200" b="1" i="0" spc="50">
                <a:solidFill>
                  <a:srgbClr val="F3F8FB"/>
                </a:solidFill>
                <a:latin typeface="Oswald"/>
              </a:rPr>
              <a:t>BUSINESS STRATEGY.</a:t>
            </a:r>
          </a:p>
        </p:txBody>
      </p:sp>
      <p:sp>
        <p:nvSpPr>
          <p:cNvPr id="9" name="TextBox 8"/>
          <p:cNvSpPr txBox="1"/>
          <p:nvPr/>
        </p:nvSpPr>
        <p:spPr>
          <a:xfrm>
            <a:off x="548640" y="2468880"/>
            <a:ext cx="5440680" cy="499871"/>
          </a:xfrm>
          <a:prstGeom prst="rect">
            <a:avLst/>
          </a:prstGeom>
          <a:noFill/>
        </p:spPr>
        <p:txBody>
          <a:bodyPr wrap="square" lIns="0" rIns="0" tIns="0" bIns="0">
            <a:spAutoFit/>
          </a:bodyPr>
          <a:lstStyle/>
          <a:p>
            <a:pPr algn="l">
              <a:lnSpc>
                <a:spcPct val="140000"/>
              </a:lnSpc>
            </a:pPr>
            <a:r>
              <a:rPr sz="1200" b="0" i="1">
                <a:solidFill>
                  <a:srgbClr val="F3F8FB"/>
                </a:solidFill>
                <a:latin typeface="Playfair Display"/>
              </a:rPr>
              <a:t>Most people think astrology is about personality. It is so much bigger than that.</a:t>
            </a:r>
          </a:p>
        </p:txBody>
      </p:sp>
      <p:sp>
        <p:nvSpPr>
          <p:cNvPr id="10" name="TextBox 9"/>
          <p:cNvSpPr txBox="1"/>
          <p:nvPr/>
        </p:nvSpPr>
        <p:spPr>
          <a:xfrm>
            <a:off x="548640" y="3032760"/>
            <a:ext cx="5440680" cy="499871"/>
          </a:xfrm>
          <a:prstGeom prst="rect">
            <a:avLst/>
          </a:prstGeom>
          <a:noFill/>
        </p:spPr>
        <p:txBody>
          <a:bodyPr wrap="square" lIns="0" rIns="0" tIns="0" bIns="0">
            <a:spAutoFit/>
          </a:bodyPr>
          <a:lstStyle/>
          <a:p>
            <a:pPr algn="l">
              <a:lnSpc>
                <a:spcPct val="140000"/>
              </a:lnSpc>
            </a:pPr>
            <a:r>
              <a:rPr sz="1200" b="0" i="1">
                <a:solidFill>
                  <a:srgbClr val="F3F8FB"/>
                </a:solidFill>
                <a:latin typeface="Playfair Display"/>
              </a:rPr>
              <a:t>Your birth chart is a complete map of the timing, the energy, and the conditions under which you were designed to thrive.</a:t>
            </a:r>
          </a:p>
        </p:txBody>
      </p:sp>
      <p:sp>
        <p:nvSpPr>
          <p:cNvPr id="11" name="TextBox 10"/>
          <p:cNvSpPr txBox="1"/>
          <p:nvPr/>
        </p:nvSpPr>
        <p:spPr>
          <a:xfrm>
            <a:off x="548640" y="3596640"/>
            <a:ext cx="5440680" cy="713231"/>
          </a:xfrm>
          <a:prstGeom prst="rect">
            <a:avLst/>
          </a:prstGeom>
          <a:noFill/>
        </p:spPr>
        <p:txBody>
          <a:bodyPr wrap="square" lIns="0" rIns="0" tIns="0" bIns="0">
            <a:spAutoFit/>
          </a:bodyPr>
          <a:lstStyle/>
          <a:p>
            <a:pPr algn="l">
              <a:lnSpc>
                <a:spcPct val="140000"/>
              </a:lnSpc>
            </a:pPr>
            <a:r>
              <a:rPr sz="1200" b="0" i="1">
                <a:solidFill>
                  <a:srgbClr val="F3F8FB"/>
                </a:solidFill>
                <a:latin typeface="Playfair Display"/>
              </a:rPr>
              <a:t>It shows you: When to launch and when to rest. When to be visible and when to go inward. When your energy is high and expansive and when your body is asking you to slow down and prepare.</a:t>
            </a:r>
          </a:p>
        </p:txBody>
      </p:sp>
      <p:sp>
        <p:nvSpPr>
          <p:cNvPr id="12" name="TextBox 11"/>
          <p:cNvSpPr txBox="1"/>
          <p:nvPr/>
        </p:nvSpPr>
        <p:spPr>
          <a:xfrm>
            <a:off x="548640" y="4373880"/>
            <a:ext cx="5440680" cy="713231"/>
          </a:xfrm>
          <a:prstGeom prst="rect">
            <a:avLst/>
          </a:prstGeom>
          <a:noFill/>
        </p:spPr>
        <p:txBody>
          <a:bodyPr wrap="square" lIns="0" rIns="0" tIns="0" bIns="0">
            <a:spAutoFit/>
          </a:bodyPr>
          <a:lstStyle/>
          <a:p>
            <a:pPr algn="l">
              <a:lnSpc>
                <a:spcPct val="140000"/>
              </a:lnSpc>
            </a:pPr>
            <a:r>
              <a:rPr sz="1200" b="0" i="1">
                <a:solidFill>
                  <a:srgbClr val="F3F8FB"/>
                </a:solidFill>
                <a:latin typeface="Playfair Display"/>
              </a:rPr>
              <a:t>The entrepreneurs who burn out are almost always fighting the current. Launching when they should be resting. Creating when they should be integrating. Pushing when the season is asking them to plant.</a:t>
            </a:r>
          </a:p>
        </p:txBody>
      </p:sp>
      <p:cxnSp>
        <p:nvCxnSpPr>
          <p:cNvPr id="13" name="Connector 12"/>
          <p:cNvCxnSpPr/>
          <p:nvPr/>
        </p:nvCxnSpPr>
        <p:spPr>
          <a:xfrm>
            <a:off x="6144768" y="2468880"/>
            <a:ext cx="0" cy="3108960"/>
          </a:xfrm>
          <a:prstGeom prst="line">
            <a:avLst/>
          </a:prstGeom>
          <a:ln w="6350">
            <a:solidFill>
              <a:srgbClr val="E4C67C"/>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6355080" y="2468880"/>
            <a:ext cx="5440680" cy="286511"/>
          </a:xfrm>
          <a:prstGeom prst="rect">
            <a:avLst/>
          </a:prstGeom>
          <a:noFill/>
        </p:spPr>
        <p:txBody>
          <a:bodyPr wrap="square" lIns="0" rIns="0" tIns="0" bIns="0">
            <a:spAutoFit/>
          </a:bodyPr>
          <a:lstStyle/>
          <a:p>
            <a:pPr algn="l">
              <a:lnSpc>
                <a:spcPct val="140000"/>
              </a:lnSpc>
            </a:pPr>
            <a:r>
              <a:rPr sz="1200" b="1" i="1">
                <a:solidFill>
                  <a:srgbClr val="E4C67C"/>
                </a:solidFill>
                <a:latin typeface="Playfair Display"/>
              </a:rPr>
              <a:t>Astrology gives you the map of your seasons.</a:t>
            </a:r>
          </a:p>
        </p:txBody>
      </p:sp>
      <p:sp>
        <p:nvSpPr>
          <p:cNvPr id="15" name="TextBox 14"/>
          <p:cNvSpPr txBox="1"/>
          <p:nvPr/>
        </p:nvSpPr>
        <p:spPr>
          <a:xfrm>
            <a:off x="6355080" y="2819400"/>
            <a:ext cx="5440680" cy="926591"/>
          </a:xfrm>
          <a:prstGeom prst="rect">
            <a:avLst/>
          </a:prstGeom>
          <a:noFill/>
        </p:spPr>
        <p:txBody>
          <a:bodyPr wrap="square" lIns="0" rIns="0" tIns="0" bIns="0">
            <a:spAutoFit/>
          </a:bodyPr>
          <a:lstStyle/>
          <a:p>
            <a:pPr algn="l">
              <a:lnSpc>
                <a:spcPct val="140000"/>
              </a:lnSpc>
            </a:pPr>
            <a:r>
              <a:rPr sz="1200" b="0" i="1">
                <a:solidFill>
                  <a:srgbClr val="F3F8FB"/>
                </a:solidFill>
                <a:latin typeface="Playfair Display"/>
              </a:rPr>
              <a:t>Not just your personality. Your timing. Your creative cycles. Your relationship with visibility and money and community. Your natural leadership style. The way you are designed to attract clients. The way you are designed to build.</a:t>
            </a:r>
          </a:p>
        </p:txBody>
      </p:sp>
      <p:sp>
        <p:nvSpPr>
          <p:cNvPr id="16" name="TextBox 15"/>
          <p:cNvSpPr txBox="1"/>
          <p:nvPr/>
        </p:nvSpPr>
        <p:spPr>
          <a:xfrm>
            <a:off x="6355080" y="3809999"/>
            <a:ext cx="5440680" cy="499871"/>
          </a:xfrm>
          <a:prstGeom prst="rect">
            <a:avLst/>
          </a:prstGeom>
          <a:noFill/>
        </p:spPr>
        <p:txBody>
          <a:bodyPr wrap="square" lIns="0" rIns="0" tIns="0" bIns="0">
            <a:spAutoFit/>
          </a:bodyPr>
          <a:lstStyle/>
          <a:p>
            <a:pPr algn="l">
              <a:lnSpc>
                <a:spcPct val="140000"/>
              </a:lnSpc>
            </a:pPr>
            <a:r>
              <a:rPr sz="1200" b="0" i="1">
                <a:solidFill>
                  <a:srgbClr val="F3F8FB"/>
                </a:solidFill>
                <a:latin typeface="Playfair Display"/>
              </a:rPr>
              <a:t>When you stop copying someone else's strategy and start building from your own cosmic blueprint everything gets easier.</a:t>
            </a:r>
          </a:p>
        </p:txBody>
      </p:sp>
      <p:sp>
        <p:nvSpPr>
          <p:cNvPr id="17" name="TextBox 16"/>
          <p:cNvSpPr txBox="1"/>
          <p:nvPr/>
        </p:nvSpPr>
        <p:spPr>
          <a:xfrm>
            <a:off x="6355080" y="4373879"/>
            <a:ext cx="5440680" cy="286511"/>
          </a:xfrm>
          <a:prstGeom prst="rect">
            <a:avLst/>
          </a:prstGeom>
          <a:noFill/>
        </p:spPr>
        <p:txBody>
          <a:bodyPr wrap="square" lIns="0" rIns="0" tIns="0" bIns="0">
            <a:spAutoFit/>
          </a:bodyPr>
          <a:lstStyle/>
          <a:p>
            <a:pPr algn="l">
              <a:lnSpc>
                <a:spcPct val="140000"/>
              </a:lnSpc>
            </a:pPr>
            <a:r>
              <a:rPr sz="1200" b="0" i="1">
                <a:solidFill>
                  <a:srgbClr val="F3F8FB"/>
                </a:solidFill>
                <a:latin typeface="Playfair Display"/>
              </a:rPr>
              <a:t>Not because you are working less. Because you are working in alignment.</a:t>
            </a:r>
          </a:p>
        </p:txBody>
      </p:sp>
      <p:cxnSp>
        <p:nvCxnSpPr>
          <p:cNvPr id="18" name="Connector 17"/>
          <p:cNvCxnSpPr/>
          <p:nvPr/>
        </p:nvCxnSpPr>
        <p:spPr>
          <a:xfrm>
            <a:off x="2743200" y="6163056"/>
            <a:ext cx="6675120" cy="0"/>
          </a:xfrm>
          <a:prstGeom prst="line">
            <a:avLst/>
          </a:prstGeom>
          <a:ln w="7620">
            <a:solidFill>
              <a:srgbClr val="E4C67C"/>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48640" y="6272784"/>
            <a:ext cx="11064240" cy="365760"/>
          </a:xfrm>
          <a:prstGeom prst="rect">
            <a:avLst/>
          </a:prstGeom>
          <a:noFill/>
        </p:spPr>
        <p:txBody>
          <a:bodyPr wrap="square" lIns="0" rIns="0" tIns="0" bIns="0">
            <a:spAutoFit/>
          </a:bodyPr>
          <a:lstStyle/>
          <a:p>
            <a:pPr algn="ctr">
              <a:lnSpc>
                <a:spcPct val="115000"/>
              </a:lnSpc>
            </a:pPr>
            <a:r>
              <a:rPr sz="1600" b="1" i="1">
                <a:solidFill>
                  <a:srgbClr val="E4C67C"/>
                </a:solidFill>
                <a:latin typeface="Playfair Display"/>
              </a:rPr>
              <a:t>And aligned work always produces more than forced work ever could.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add8.jp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0A1626"/>
            <a:alpha val="5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0058400" cy="274320"/>
          </a:xfrm>
          <a:prstGeom prst="rect">
            <a:avLst/>
          </a:prstGeom>
          <a:noFill/>
        </p:spPr>
        <p:txBody>
          <a:bodyPr wrap="square" lIns="0" rIns="0" tIns="0" bIns="0">
            <a:spAutoFit/>
          </a:bodyPr>
          <a:lstStyle/>
          <a:p>
            <a:pPr algn="l">
              <a:lnSpc>
                <a:spcPct val="115000"/>
              </a:lnSpc>
            </a:pPr>
            <a:r>
              <a:rPr sz="1100" b="1" i="0" spc="500">
                <a:solidFill>
                  <a:srgbClr val="E4C67C"/>
                </a:solidFill>
                <a:latin typeface="Inter"/>
              </a:rPr>
              <a:t>HOW TO FIND YOUR ASTROLOGY CHART</a:t>
            </a:r>
          </a:p>
        </p:txBody>
      </p:sp>
      <p:cxnSp>
        <p:nvCxnSpPr>
          <p:cNvPr id="5" name="Connector 4"/>
          <p:cNvCxnSpPr/>
          <p:nvPr/>
        </p:nvCxnSpPr>
        <p:spPr>
          <a:xfrm>
            <a:off x="548640" y="676656"/>
            <a:ext cx="2743200" cy="0"/>
          </a:xfrm>
          <a:prstGeom prst="line">
            <a:avLst/>
          </a:prstGeom>
          <a:ln w="9525">
            <a:solidFill>
              <a:srgbClr val="E4C67C"/>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02920" y="768096"/>
            <a:ext cx="6400800" cy="548640"/>
          </a:xfrm>
          <a:prstGeom prst="rect">
            <a:avLst/>
          </a:prstGeom>
          <a:noFill/>
        </p:spPr>
        <p:txBody>
          <a:bodyPr wrap="square" lIns="0" rIns="0" tIns="0" bIns="0">
            <a:spAutoFit/>
          </a:bodyPr>
          <a:lstStyle/>
          <a:p>
            <a:pPr algn="l">
              <a:lnSpc>
                <a:spcPct val="115000"/>
              </a:lnSpc>
            </a:pPr>
            <a:r>
              <a:rPr sz="3800" b="0" i="1">
                <a:solidFill>
                  <a:srgbClr val="E4C67C"/>
                </a:solidFill>
                <a:latin typeface="Great Vibes"/>
              </a:rPr>
              <a:t>where to find</a:t>
            </a:r>
          </a:p>
        </p:txBody>
      </p:sp>
      <p:sp>
        <p:nvSpPr>
          <p:cNvPr id="7" name="TextBox 6"/>
          <p:cNvSpPr txBox="1"/>
          <p:nvPr/>
        </p:nvSpPr>
        <p:spPr>
          <a:xfrm>
            <a:off x="548640" y="1371600"/>
            <a:ext cx="7315200" cy="548640"/>
          </a:xfrm>
          <a:prstGeom prst="rect">
            <a:avLst/>
          </a:prstGeom>
          <a:noFill/>
        </p:spPr>
        <p:txBody>
          <a:bodyPr wrap="square" lIns="0" rIns="0" tIns="0" bIns="0">
            <a:spAutoFit/>
          </a:bodyPr>
          <a:lstStyle/>
          <a:p>
            <a:pPr algn="l">
              <a:lnSpc>
                <a:spcPct val="90000"/>
              </a:lnSpc>
            </a:pPr>
            <a:r>
              <a:rPr sz="4000" b="1" i="0" spc="60">
                <a:solidFill>
                  <a:srgbClr val="F3F8FB"/>
                </a:solidFill>
                <a:latin typeface="Oswald"/>
              </a:rPr>
              <a:t>YOUR CHART.</a:t>
            </a:r>
          </a:p>
        </p:txBody>
      </p:sp>
      <p:sp>
        <p:nvSpPr>
          <p:cNvPr id="8" name="Rectangle 7"/>
          <p:cNvSpPr/>
          <p:nvPr/>
        </p:nvSpPr>
        <p:spPr>
          <a:xfrm>
            <a:off x="548640" y="1481328"/>
            <a:ext cx="5458968" cy="1591056"/>
          </a:xfrm>
          <a:prstGeom prst="rect">
            <a:avLst/>
          </a:prstGeom>
          <a:solidFill>
            <a:srgbClr val="EAF0F4"/>
            <a:alpha val="78000"/>
          </a:solidFill>
          <a:ln w="9144">
            <a:solidFill>
              <a:srgbClr val="E4C67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6384" y="1664208"/>
            <a:ext cx="4983479" cy="274320"/>
          </a:xfrm>
          <a:prstGeom prst="rect">
            <a:avLst/>
          </a:prstGeom>
          <a:noFill/>
        </p:spPr>
        <p:txBody>
          <a:bodyPr wrap="square" lIns="0" rIns="0" tIns="0" bIns="0">
            <a:spAutoFit/>
          </a:bodyPr>
          <a:lstStyle/>
          <a:p>
            <a:pPr algn="l">
              <a:lnSpc>
                <a:spcPct val="115000"/>
              </a:lnSpc>
            </a:pPr>
            <a:r>
              <a:rPr sz="1300" b="1" i="0" spc="150">
                <a:solidFill>
                  <a:srgbClr val="0C2E49"/>
                </a:solidFill>
                <a:latin typeface="Oswald"/>
              </a:rPr>
              <a:t>THE THREE THINGS</a:t>
            </a:r>
          </a:p>
        </p:txBody>
      </p:sp>
      <p:cxnSp>
        <p:nvCxnSpPr>
          <p:cNvPr id="10" name="Connector 9"/>
          <p:cNvCxnSpPr/>
          <p:nvPr/>
        </p:nvCxnSpPr>
        <p:spPr>
          <a:xfrm>
            <a:off x="786384" y="1973275"/>
            <a:ext cx="914400" cy="0"/>
          </a:xfrm>
          <a:prstGeom prst="line">
            <a:avLst/>
          </a:prstGeom>
          <a:ln w="7620">
            <a:solidFill>
              <a:srgbClr val="9A7933"/>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786384" y="2083003"/>
            <a:ext cx="4983479" cy="806500"/>
          </a:xfrm>
          <a:prstGeom prst="rect">
            <a:avLst/>
          </a:prstGeom>
          <a:noFill/>
        </p:spPr>
        <p:txBody>
          <a:bodyPr wrap="square" lIns="0" rIns="0" tIns="0" bIns="0">
            <a:spAutoFit/>
          </a:bodyPr>
          <a:lstStyle/>
          <a:p>
            <a:pPr algn="l">
              <a:lnSpc>
                <a:spcPct val="134000"/>
              </a:lnSpc>
            </a:pPr>
            <a:r>
              <a:rPr sz="900" b="0" i="1">
                <a:solidFill>
                  <a:srgbClr val="0E1C2C"/>
                </a:solidFill>
                <a:latin typeface="Playfair Display"/>
              </a:rPr>
              <a:t>Your exact date of birth. Your exact time of birth. Your exact place of birth. The more accurate these three things are the more accurate your chart will be. Even a few minutes can shift your rising sign entirely. So if you do not know your exact birth time it is worth tracking down.</a:t>
            </a:r>
          </a:p>
        </p:txBody>
      </p:sp>
      <p:sp>
        <p:nvSpPr>
          <p:cNvPr id="12" name="Rectangle 11"/>
          <p:cNvSpPr/>
          <p:nvPr/>
        </p:nvSpPr>
        <p:spPr>
          <a:xfrm>
            <a:off x="6190488" y="1481328"/>
            <a:ext cx="5458968" cy="1591056"/>
          </a:xfrm>
          <a:prstGeom prst="rect">
            <a:avLst/>
          </a:prstGeom>
          <a:solidFill>
            <a:srgbClr val="EAF0F4"/>
            <a:alpha val="78000"/>
          </a:solidFill>
          <a:ln w="9144">
            <a:solidFill>
              <a:srgbClr val="E4C67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8231" y="1664208"/>
            <a:ext cx="4983479" cy="274320"/>
          </a:xfrm>
          <a:prstGeom prst="rect">
            <a:avLst/>
          </a:prstGeom>
          <a:noFill/>
        </p:spPr>
        <p:txBody>
          <a:bodyPr wrap="square" lIns="0" rIns="0" tIns="0" bIns="0">
            <a:spAutoFit/>
          </a:bodyPr>
          <a:lstStyle/>
          <a:p>
            <a:pPr algn="l">
              <a:lnSpc>
                <a:spcPct val="115000"/>
              </a:lnSpc>
            </a:pPr>
            <a:r>
              <a:rPr sz="1300" b="1" i="0" spc="150">
                <a:solidFill>
                  <a:srgbClr val="0C2E49"/>
                </a:solidFill>
                <a:latin typeface="Oswald"/>
              </a:rPr>
              <a:t>HOW TO FIND YOUR BIRTH TIME</a:t>
            </a:r>
          </a:p>
        </p:txBody>
      </p:sp>
      <p:cxnSp>
        <p:nvCxnSpPr>
          <p:cNvPr id="14" name="Connector 13"/>
          <p:cNvCxnSpPr/>
          <p:nvPr/>
        </p:nvCxnSpPr>
        <p:spPr>
          <a:xfrm>
            <a:off x="6428231" y="1973275"/>
            <a:ext cx="914400" cy="0"/>
          </a:xfrm>
          <a:prstGeom prst="line">
            <a:avLst/>
          </a:prstGeom>
          <a:ln w="7620">
            <a:solidFill>
              <a:srgbClr val="9A7933"/>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428231" y="2083003"/>
            <a:ext cx="4983479" cy="806500"/>
          </a:xfrm>
          <a:prstGeom prst="rect">
            <a:avLst/>
          </a:prstGeom>
          <a:noFill/>
        </p:spPr>
        <p:txBody>
          <a:bodyPr wrap="square" lIns="0" rIns="0" tIns="0" bIns="0">
            <a:spAutoFit/>
          </a:bodyPr>
          <a:lstStyle/>
          <a:p>
            <a:pPr algn="l">
              <a:lnSpc>
                <a:spcPct val="134000"/>
              </a:lnSpc>
            </a:pPr>
            <a:r>
              <a:rPr sz="900" b="0" i="1">
                <a:solidFill>
                  <a:srgbClr val="0E1C2C"/>
                </a:solidFill>
                <a:latin typeface="Playfair Display"/>
              </a:rPr>
              <a:t>Call the hospital you were born at and ask for your birth records. Contact your city or county and request a birth certificate that includes time. Ask a parent or family member if they remember. If all else fails look into birth time rectification through a professional astrologer.</a:t>
            </a:r>
          </a:p>
        </p:txBody>
      </p:sp>
      <p:sp>
        <p:nvSpPr>
          <p:cNvPr id="16" name="Rectangle 15"/>
          <p:cNvSpPr/>
          <p:nvPr/>
        </p:nvSpPr>
        <p:spPr>
          <a:xfrm>
            <a:off x="548640" y="3200400"/>
            <a:ext cx="5458968" cy="1591056"/>
          </a:xfrm>
          <a:prstGeom prst="rect">
            <a:avLst/>
          </a:prstGeom>
          <a:solidFill>
            <a:srgbClr val="EAF0F4"/>
            <a:alpha val="78000"/>
          </a:solidFill>
          <a:ln w="9144">
            <a:solidFill>
              <a:srgbClr val="E4C67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4" y="3383280"/>
            <a:ext cx="4983479" cy="274320"/>
          </a:xfrm>
          <a:prstGeom prst="rect">
            <a:avLst/>
          </a:prstGeom>
          <a:noFill/>
        </p:spPr>
        <p:txBody>
          <a:bodyPr wrap="square" lIns="0" rIns="0" tIns="0" bIns="0">
            <a:spAutoFit/>
          </a:bodyPr>
          <a:lstStyle/>
          <a:p>
            <a:pPr algn="l">
              <a:lnSpc>
                <a:spcPct val="115000"/>
              </a:lnSpc>
            </a:pPr>
            <a:r>
              <a:rPr sz="1300" b="1" i="0" spc="150">
                <a:solidFill>
                  <a:srgbClr val="0C2E49"/>
                </a:solidFill>
                <a:latin typeface="Oswald"/>
              </a:rPr>
              <a:t>WHERE TO PULL YOUR CHART</a:t>
            </a:r>
          </a:p>
        </p:txBody>
      </p:sp>
      <p:cxnSp>
        <p:nvCxnSpPr>
          <p:cNvPr id="18" name="Connector 17"/>
          <p:cNvCxnSpPr/>
          <p:nvPr/>
        </p:nvCxnSpPr>
        <p:spPr>
          <a:xfrm>
            <a:off x="786384" y="3692347"/>
            <a:ext cx="914400" cy="0"/>
          </a:xfrm>
          <a:prstGeom prst="line">
            <a:avLst/>
          </a:prstGeom>
          <a:ln w="7620">
            <a:solidFill>
              <a:srgbClr val="9A7933"/>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786384" y="3802075"/>
            <a:ext cx="4983479" cy="806500"/>
          </a:xfrm>
          <a:prstGeom prst="rect">
            <a:avLst/>
          </a:prstGeom>
          <a:noFill/>
        </p:spPr>
        <p:txBody>
          <a:bodyPr wrap="square" lIns="0" rIns="0" tIns="0" bIns="0">
            <a:spAutoFit/>
          </a:bodyPr>
          <a:lstStyle/>
          <a:p>
            <a:pPr algn="l">
              <a:lnSpc>
                <a:spcPct val="134000"/>
              </a:lnSpc>
            </a:pPr>
            <a:r>
              <a:rPr sz="900" b="0" i="1">
                <a:solidFill>
                  <a:srgbClr val="0E1C2C"/>
                </a:solidFill>
                <a:latin typeface="Playfair Display"/>
              </a:rPr>
              <a:t>astro.com — free and the most comprehensive. astro-seek.com — free with beautiful visual charts. TimePassages — app available on iPhone and Android. Co-Star — app available on iPhone and Android.</a:t>
            </a:r>
          </a:p>
        </p:txBody>
      </p:sp>
      <p:sp>
        <p:nvSpPr>
          <p:cNvPr id="20" name="Rectangle 19"/>
          <p:cNvSpPr/>
          <p:nvPr/>
        </p:nvSpPr>
        <p:spPr>
          <a:xfrm>
            <a:off x="6190488" y="3200400"/>
            <a:ext cx="5458968" cy="1591056"/>
          </a:xfrm>
          <a:prstGeom prst="rect">
            <a:avLst/>
          </a:prstGeom>
          <a:solidFill>
            <a:srgbClr val="EAF0F4"/>
            <a:alpha val="78000"/>
          </a:solidFill>
          <a:ln w="9144">
            <a:solidFill>
              <a:srgbClr val="E4C67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28231" y="3383280"/>
            <a:ext cx="4983479" cy="274320"/>
          </a:xfrm>
          <a:prstGeom prst="rect">
            <a:avLst/>
          </a:prstGeom>
          <a:noFill/>
        </p:spPr>
        <p:txBody>
          <a:bodyPr wrap="square" lIns="0" rIns="0" tIns="0" bIns="0">
            <a:spAutoFit/>
          </a:bodyPr>
          <a:lstStyle/>
          <a:p>
            <a:pPr algn="l">
              <a:lnSpc>
                <a:spcPct val="115000"/>
              </a:lnSpc>
            </a:pPr>
            <a:r>
              <a:rPr sz="1300" b="1" i="0" spc="150">
                <a:solidFill>
                  <a:srgbClr val="0C2E49"/>
                </a:solidFill>
                <a:latin typeface="Oswald"/>
              </a:rPr>
              <a:t>WHAT TO LOOK FOR FIRST</a:t>
            </a:r>
          </a:p>
        </p:txBody>
      </p:sp>
      <p:cxnSp>
        <p:nvCxnSpPr>
          <p:cNvPr id="22" name="Connector 21"/>
          <p:cNvCxnSpPr/>
          <p:nvPr/>
        </p:nvCxnSpPr>
        <p:spPr>
          <a:xfrm>
            <a:off x="6428231" y="3692347"/>
            <a:ext cx="914400" cy="0"/>
          </a:xfrm>
          <a:prstGeom prst="line">
            <a:avLst/>
          </a:prstGeom>
          <a:ln w="7620">
            <a:solidFill>
              <a:srgbClr val="9A7933"/>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428231" y="3802075"/>
            <a:ext cx="4983479" cy="806500"/>
          </a:xfrm>
          <a:prstGeom prst="rect">
            <a:avLst/>
          </a:prstGeom>
          <a:noFill/>
        </p:spPr>
        <p:txBody>
          <a:bodyPr wrap="square" lIns="0" rIns="0" tIns="0" bIns="0">
            <a:spAutoFit/>
          </a:bodyPr>
          <a:lstStyle/>
          <a:p>
            <a:pPr algn="l">
              <a:lnSpc>
                <a:spcPct val="134000"/>
              </a:lnSpc>
            </a:pPr>
            <a:r>
              <a:rPr sz="900" b="0" i="1">
                <a:solidFill>
                  <a:srgbClr val="0E1C2C"/>
                </a:solidFill>
                <a:latin typeface="Playfair Display"/>
              </a:rPr>
              <a:t>Your Sun Sign — who you are at your core. Your Moon Sign — how you feel and what you need emotionally. Your Rising Sign — how the world receives you and your brand broadcast.</a:t>
            </a:r>
          </a:p>
        </p:txBody>
      </p:sp>
      <p:sp>
        <p:nvSpPr>
          <p:cNvPr id="24" name="TextBox 23"/>
          <p:cNvSpPr txBox="1"/>
          <p:nvPr/>
        </p:nvSpPr>
        <p:spPr>
          <a:xfrm>
            <a:off x="914400" y="5029200"/>
            <a:ext cx="10360152" cy="499871"/>
          </a:xfrm>
          <a:prstGeom prst="rect">
            <a:avLst/>
          </a:prstGeom>
          <a:noFill/>
        </p:spPr>
        <p:txBody>
          <a:bodyPr wrap="square" lIns="0" rIns="0" tIns="0" bIns="0">
            <a:spAutoFit/>
          </a:bodyPr>
          <a:lstStyle/>
          <a:p>
            <a:pPr algn="ctr">
              <a:lnSpc>
                <a:spcPct val="140000"/>
              </a:lnSpc>
            </a:pPr>
            <a:r>
              <a:rPr sz="1200" b="0" i="1">
                <a:solidFill>
                  <a:srgbClr val="F3F8FB"/>
                </a:solidFill>
                <a:latin typeface="Playfair Display"/>
              </a:rPr>
              <a:t>We are going to focus most of our time today on your rising sign because in business your rising sign is everything. It is the first impression your soul makes. It is the frequency you broadcast. It is your brand before you ever design a single thing.</a:t>
            </a:r>
          </a:p>
        </p:txBody>
      </p:sp>
      <p:sp>
        <p:nvSpPr>
          <p:cNvPr id="25" name="TextBox 24"/>
          <p:cNvSpPr txBox="1"/>
          <p:nvPr/>
        </p:nvSpPr>
        <p:spPr>
          <a:xfrm>
            <a:off x="914400" y="5583936"/>
            <a:ext cx="10360152" cy="499871"/>
          </a:xfrm>
          <a:prstGeom prst="rect">
            <a:avLst/>
          </a:prstGeom>
          <a:noFill/>
        </p:spPr>
        <p:txBody>
          <a:bodyPr wrap="square" lIns="0" rIns="0" tIns="0" bIns="0">
            <a:spAutoFit/>
          </a:bodyPr>
          <a:lstStyle/>
          <a:p>
            <a:pPr algn="ctr">
              <a:lnSpc>
                <a:spcPct val="140000"/>
              </a:lnSpc>
            </a:pPr>
            <a:r>
              <a:rPr sz="1200" b="1" i="1">
                <a:solidFill>
                  <a:srgbClr val="E4C67C"/>
                </a:solidFill>
                <a:latin typeface="Playfair Display"/>
              </a:rPr>
              <a:t>Pull your chart now if you have not already. Write down your big three. Sun. Moon. Rising. And get ready to see yourself in a way you never have before.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add17.jp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2286000"/>
          </a:xfrm>
          <a:prstGeom prst="rect">
            <a:avLst/>
          </a:prstGeom>
          <a:ln>
            <a:noFill/>
          </a:ln>
          <a:gradFill flip="none" rotWithShape="1">
            <a:gsLst>
              <a:gs pos="0">
                <a:srgbClr val="0A1626">
                  <a:alpha val="74000"/>
                </a:srgbClr>
              </a:gs>
              <a:gs pos="70000">
                <a:srgbClr val="0A1626">
                  <a:alpha val="29600"/>
                </a:srgbClr>
              </a:gs>
              <a:gs pos="100000">
                <a:srgbClr val="0A1626">
                  <a:alpha val="0"/>
                </a:srgbClr>
              </a:gs>
            </a:gsLst>
            <a:lin ang="540000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2103120"/>
            <a:ext cx="12191695" cy="4754880"/>
          </a:xfrm>
          <a:prstGeom prst="rect">
            <a:avLst/>
          </a:prstGeom>
          <a:solidFill>
            <a:srgbClr val="0A1626"/>
            <a:alpha val="7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420624"/>
            <a:ext cx="10058400" cy="274320"/>
          </a:xfrm>
          <a:prstGeom prst="rect">
            <a:avLst/>
          </a:prstGeom>
          <a:noFill/>
        </p:spPr>
        <p:txBody>
          <a:bodyPr wrap="square" lIns="0" rIns="0" tIns="0" bIns="0">
            <a:spAutoFit/>
          </a:bodyPr>
          <a:lstStyle/>
          <a:p>
            <a:pPr algn="l">
              <a:lnSpc>
                <a:spcPct val="115000"/>
              </a:lnSpc>
            </a:pPr>
            <a:r>
              <a:rPr sz="1100" b="1" i="0" spc="500">
                <a:solidFill>
                  <a:srgbClr val="E4C67C"/>
                </a:solidFill>
                <a:latin typeface="Inter"/>
              </a:rPr>
              <a:t>HUMAN DESIGN AND YOUR BUSINESS</a:t>
            </a:r>
          </a:p>
        </p:txBody>
      </p:sp>
      <p:cxnSp>
        <p:nvCxnSpPr>
          <p:cNvPr id="6" name="Connector 5"/>
          <p:cNvCxnSpPr/>
          <p:nvPr/>
        </p:nvCxnSpPr>
        <p:spPr>
          <a:xfrm>
            <a:off x="548640" y="713232"/>
            <a:ext cx="2743200" cy="0"/>
          </a:xfrm>
          <a:prstGeom prst="line">
            <a:avLst/>
          </a:prstGeom>
          <a:ln w="9525">
            <a:solidFill>
              <a:srgbClr val="E4C67C"/>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8640" y="841248"/>
            <a:ext cx="11247120" cy="365760"/>
          </a:xfrm>
          <a:prstGeom prst="rect">
            <a:avLst/>
          </a:prstGeom>
          <a:noFill/>
        </p:spPr>
        <p:txBody>
          <a:bodyPr wrap="square" lIns="0" rIns="0" tIns="0" bIns="0">
            <a:spAutoFit/>
          </a:bodyPr>
          <a:lstStyle/>
          <a:p>
            <a:pPr algn="l">
              <a:lnSpc>
                <a:spcPct val="115000"/>
              </a:lnSpc>
            </a:pPr>
            <a:r>
              <a:rPr sz="2400" b="1" i="0" spc="70">
                <a:solidFill>
                  <a:srgbClr val="F3F8FB"/>
                </a:solidFill>
                <a:latin typeface="Oswald"/>
              </a:rPr>
              <a:t>HUMAN DESIGN IS NOT JUST SELF DISCOVERY.</a:t>
            </a:r>
          </a:p>
        </p:txBody>
      </p:sp>
      <p:sp>
        <p:nvSpPr>
          <p:cNvPr id="8" name="TextBox 7"/>
          <p:cNvSpPr txBox="1"/>
          <p:nvPr/>
        </p:nvSpPr>
        <p:spPr>
          <a:xfrm>
            <a:off x="548640" y="1207008"/>
            <a:ext cx="11247120" cy="365760"/>
          </a:xfrm>
          <a:prstGeom prst="rect">
            <a:avLst/>
          </a:prstGeom>
          <a:noFill/>
        </p:spPr>
        <p:txBody>
          <a:bodyPr wrap="square" lIns="0" rIns="0" tIns="0" bIns="0">
            <a:spAutoFit/>
          </a:bodyPr>
          <a:lstStyle/>
          <a:p>
            <a:pPr algn="l">
              <a:lnSpc>
                <a:spcPct val="115000"/>
              </a:lnSpc>
            </a:pPr>
            <a:r>
              <a:rPr sz="2400" b="1" i="0" spc="70">
                <a:solidFill>
                  <a:srgbClr val="E4C67C"/>
                </a:solidFill>
                <a:latin typeface="Oswald"/>
              </a:rPr>
              <a:t>IT IS YOUR BUSINESS BLUEPRINT.</a:t>
            </a:r>
          </a:p>
        </p:txBody>
      </p:sp>
      <p:sp>
        <p:nvSpPr>
          <p:cNvPr id="9" name="TextBox 8"/>
          <p:cNvSpPr txBox="1"/>
          <p:nvPr/>
        </p:nvSpPr>
        <p:spPr>
          <a:xfrm>
            <a:off x="548640" y="2148840"/>
            <a:ext cx="5440680" cy="713231"/>
          </a:xfrm>
          <a:prstGeom prst="rect">
            <a:avLst/>
          </a:prstGeom>
          <a:noFill/>
        </p:spPr>
        <p:txBody>
          <a:bodyPr wrap="square" lIns="0" rIns="0" tIns="0" bIns="0">
            <a:spAutoFit/>
          </a:bodyPr>
          <a:lstStyle/>
          <a:p>
            <a:pPr algn="l">
              <a:lnSpc>
                <a:spcPct val="140000"/>
              </a:lnSpc>
            </a:pPr>
            <a:r>
              <a:rPr sz="1200" b="0" i="1">
                <a:solidFill>
                  <a:srgbClr val="F3F8FB"/>
                </a:solidFill>
                <a:latin typeface="Playfair Display"/>
              </a:rPr>
              <a:t>Most people start a business and immediately look outside themselves for answers. What strategy should I use? What platform should I be on? Why is what works for her not working for me?</a:t>
            </a:r>
          </a:p>
        </p:txBody>
      </p:sp>
      <p:sp>
        <p:nvSpPr>
          <p:cNvPr id="10" name="TextBox 9"/>
          <p:cNvSpPr txBox="1"/>
          <p:nvPr/>
        </p:nvSpPr>
        <p:spPr>
          <a:xfrm>
            <a:off x="548640" y="2926080"/>
            <a:ext cx="5440680" cy="499871"/>
          </a:xfrm>
          <a:prstGeom prst="rect">
            <a:avLst/>
          </a:prstGeom>
          <a:noFill/>
        </p:spPr>
        <p:txBody>
          <a:bodyPr wrap="square" lIns="0" rIns="0" tIns="0" bIns="0">
            <a:spAutoFit/>
          </a:bodyPr>
          <a:lstStyle/>
          <a:p>
            <a:pPr algn="l">
              <a:lnSpc>
                <a:spcPct val="140000"/>
              </a:lnSpc>
            </a:pPr>
            <a:r>
              <a:rPr sz="1200" b="0" i="1">
                <a:solidFill>
                  <a:srgbClr val="F3F8FB"/>
                </a:solidFill>
                <a:latin typeface="Playfair Display"/>
              </a:rPr>
              <a:t>And they spend years trying on other people's blueprints wondering why nothing quite fits.</a:t>
            </a:r>
          </a:p>
        </p:txBody>
      </p:sp>
      <p:sp>
        <p:nvSpPr>
          <p:cNvPr id="11" name="TextBox 10"/>
          <p:cNvSpPr txBox="1"/>
          <p:nvPr/>
        </p:nvSpPr>
        <p:spPr>
          <a:xfrm>
            <a:off x="548640" y="3489960"/>
            <a:ext cx="5440680" cy="286511"/>
          </a:xfrm>
          <a:prstGeom prst="rect">
            <a:avLst/>
          </a:prstGeom>
          <a:noFill/>
        </p:spPr>
        <p:txBody>
          <a:bodyPr wrap="square" lIns="0" rIns="0" tIns="0" bIns="0">
            <a:spAutoFit/>
          </a:bodyPr>
          <a:lstStyle/>
          <a:p>
            <a:pPr algn="l">
              <a:lnSpc>
                <a:spcPct val="140000"/>
              </a:lnSpc>
            </a:pPr>
            <a:r>
              <a:rPr sz="1200" b="0" i="1">
                <a:solidFill>
                  <a:srgbClr val="F3F8FB"/>
                </a:solidFill>
                <a:latin typeface="Playfair Display"/>
              </a:rPr>
              <a:t>Human Design gives you a different starting point.</a:t>
            </a:r>
          </a:p>
        </p:txBody>
      </p:sp>
      <p:sp>
        <p:nvSpPr>
          <p:cNvPr id="12" name="TextBox 11"/>
          <p:cNvSpPr txBox="1"/>
          <p:nvPr/>
        </p:nvSpPr>
        <p:spPr>
          <a:xfrm>
            <a:off x="548640" y="3840480"/>
            <a:ext cx="5440680" cy="499871"/>
          </a:xfrm>
          <a:prstGeom prst="rect">
            <a:avLst/>
          </a:prstGeom>
          <a:noFill/>
        </p:spPr>
        <p:txBody>
          <a:bodyPr wrap="square" lIns="0" rIns="0" tIns="0" bIns="0">
            <a:spAutoFit/>
          </a:bodyPr>
          <a:lstStyle/>
          <a:p>
            <a:pPr algn="l">
              <a:lnSpc>
                <a:spcPct val="140000"/>
              </a:lnSpc>
            </a:pPr>
            <a:r>
              <a:rPr sz="1200" b="0" i="1">
                <a:solidFill>
                  <a:srgbClr val="F3F8FB"/>
                </a:solidFill>
                <a:latin typeface="Playfair Display"/>
              </a:rPr>
              <a:t>Instead of asking what should I do it asks who are you and how were you designed to do it. When you build from that answer everything changes.</a:t>
            </a:r>
          </a:p>
        </p:txBody>
      </p:sp>
      <p:cxnSp>
        <p:nvCxnSpPr>
          <p:cNvPr id="13" name="Connector 12"/>
          <p:cNvCxnSpPr/>
          <p:nvPr/>
        </p:nvCxnSpPr>
        <p:spPr>
          <a:xfrm>
            <a:off x="6144768" y="2148840"/>
            <a:ext cx="0" cy="3291840"/>
          </a:xfrm>
          <a:prstGeom prst="line">
            <a:avLst/>
          </a:prstGeom>
          <a:ln w="6350">
            <a:solidFill>
              <a:srgbClr val="E4C67C"/>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6355080" y="2148840"/>
            <a:ext cx="5440680" cy="713231"/>
          </a:xfrm>
          <a:prstGeom prst="rect">
            <a:avLst/>
          </a:prstGeom>
          <a:noFill/>
        </p:spPr>
        <p:txBody>
          <a:bodyPr wrap="square" lIns="0" rIns="0" tIns="0" bIns="0">
            <a:spAutoFit/>
          </a:bodyPr>
          <a:lstStyle/>
          <a:p>
            <a:pPr algn="l">
              <a:lnSpc>
                <a:spcPct val="140000"/>
              </a:lnSpc>
            </a:pPr>
            <a:r>
              <a:rPr sz="1200" b="0" i="1">
                <a:solidFill>
                  <a:srgbClr val="F3F8FB"/>
                </a:solidFill>
                <a:latin typeface="Playfair Display"/>
              </a:rPr>
              <a:t>It shows you how you are designed to make decisions. How you are designed to create. How you are designed to attract. How you are designed to lead. How you are designed to rest.</a:t>
            </a:r>
          </a:p>
        </p:txBody>
      </p:sp>
      <p:sp>
        <p:nvSpPr>
          <p:cNvPr id="15" name="TextBox 14"/>
          <p:cNvSpPr txBox="1"/>
          <p:nvPr/>
        </p:nvSpPr>
        <p:spPr>
          <a:xfrm>
            <a:off x="6355080" y="2926080"/>
            <a:ext cx="5440680" cy="499871"/>
          </a:xfrm>
          <a:prstGeom prst="rect">
            <a:avLst/>
          </a:prstGeom>
          <a:noFill/>
        </p:spPr>
        <p:txBody>
          <a:bodyPr wrap="square" lIns="0" rIns="0" tIns="0" bIns="0">
            <a:spAutoFit/>
          </a:bodyPr>
          <a:lstStyle/>
          <a:p>
            <a:pPr algn="l">
              <a:lnSpc>
                <a:spcPct val="140000"/>
              </a:lnSpc>
            </a:pPr>
            <a:r>
              <a:rPr sz="1200" b="0" i="1">
                <a:solidFill>
                  <a:srgbClr val="F3F8FB"/>
                </a:solidFill>
                <a:latin typeface="Playfair Display"/>
              </a:rPr>
              <a:t>And when you are just starting out it gives you the most important permission of all.</a:t>
            </a:r>
          </a:p>
        </p:txBody>
      </p:sp>
      <p:sp>
        <p:nvSpPr>
          <p:cNvPr id="16" name="TextBox 15"/>
          <p:cNvSpPr txBox="1"/>
          <p:nvPr/>
        </p:nvSpPr>
        <p:spPr>
          <a:xfrm>
            <a:off x="6355080" y="3489960"/>
            <a:ext cx="5440680" cy="286511"/>
          </a:xfrm>
          <a:prstGeom prst="rect">
            <a:avLst/>
          </a:prstGeom>
          <a:noFill/>
        </p:spPr>
        <p:txBody>
          <a:bodyPr wrap="square" lIns="0" rIns="0" tIns="0" bIns="0">
            <a:spAutoFit/>
          </a:bodyPr>
          <a:lstStyle/>
          <a:p>
            <a:pPr algn="l">
              <a:lnSpc>
                <a:spcPct val="140000"/>
              </a:lnSpc>
            </a:pPr>
            <a:r>
              <a:rPr sz="1200" b="1" i="1">
                <a:solidFill>
                  <a:srgbClr val="E4C67C"/>
                </a:solidFill>
                <a:latin typeface="Playfair Display"/>
              </a:rPr>
              <a:t>Permission to begin as yourself.</a:t>
            </a:r>
          </a:p>
        </p:txBody>
      </p:sp>
      <p:sp>
        <p:nvSpPr>
          <p:cNvPr id="17" name="TextBox 16"/>
          <p:cNvSpPr txBox="1"/>
          <p:nvPr/>
        </p:nvSpPr>
        <p:spPr>
          <a:xfrm>
            <a:off x="6355080" y="3840480"/>
            <a:ext cx="5440680" cy="499871"/>
          </a:xfrm>
          <a:prstGeom prst="rect">
            <a:avLst/>
          </a:prstGeom>
          <a:noFill/>
        </p:spPr>
        <p:txBody>
          <a:bodyPr wrap="square" lIns="0" rIns="0" tIns="0" bIns="0">
            <a:spAutoFit/>
          </a:bodyPr>
          <a:lstStyle/>
          <a:p>
            <a:pPr algn="l">
              <a:lnSpc>
                <a:spcPct val="140000"/>
              </a:lnSpc>
            </a:pPr>
            <a:r>
              <a:rPr sz="1200" b="0" i="1">
                <a:solidFill>
                  <a:srgbClr val="F3F8FB"/>
                </a:solidFill>
                <a:latin typeface="Playfair Display"/>
              </a:rPr>
              <a:t>Not a more polished version. Not a more healed version. Not a more experienced version. Yourself. Right now. Exactly as you are designed.</a:t>
            </a:r>
          </a:p>
        </p:txBody>
      </p:sp>
      <p:cxnSp>
        <p:nvCxnSpPr>
          <p:cNvPr id="18" name="Connector 17"/>
          <p:cNvCxnSpPr/>
          <p:nvPr/>
        </p:nvCxnSpPr>
        <p:spPr>
          <a:xfrm>
            <a:off x="2377440" y="6089904"/>
            <a:ext cx="7406640" cy="0"/>
          </a:xfrm>
          <a:prstGeom prst="line">
            <a:avLst/>
          </a:prstGeom>
          <a:ln w="7620">
            <a:solidFill>
              <a:srgbClr val="E4C67C"/>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48640" y="6199632"/>
            <a:ext cx="11064240" cy="365760"/>
          </a:xfrm>
          <a:prstGeom prst="rect">
            <a:avLst/>
          </a:prstGeom>
          <a:noFill/>
        </p:spPr>
        <p:txBody>
          <a:bodyPr wrap="square" lIns="0" rIns="0" tIns="0" bIns="0">
            <a:spAutoFit/>
          </a:bodyPr>
          <a:lstStyle/>
          <a:p>
            <a:pPr algn="ctr">
              <a:lnSpc>
                <a:spcPct val="115000"/>
              </a:lnSpc>
            </a:pPr>
            <a:r>
              <a:rPr sz="1500" b="1" i="1">
                <a:solidFill>
                  <a:srgbClr val="E4C67C"/>
                </a:solidFill>
                <a:latin typeface="Playfair Display"/>
              </a:rPr>
              <a:t>Because the business that fits you is always the one built from your blueprint. Not someone else's.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add18.jp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0A1626"/>
            <a:alpha val="5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0058400" cy="274320"/>
          </a:xfrm>
          <a:prstGeom prst="rect">
            <a:avLst/>
          </a:prstGeom>
          <a:noFill/>
        </p:spPr>
        <p:txBody>
          <a:bodyPr wrap="square" lIns="0" rIns="0" tIns="0" bIns="0">
            <a:spAutoFit/>
          </a:bodyPr>
          <a:lstStyle/>
          <a:p>
            <a:pPr algn="l">
              <a:lnSpc>
                <a:spcPct val="115000"/>
              </a:lnSpc>
            </a:pPr>
            <a:r>
              <a:rPr sz="1100" b="1" i="0" spc="500">
                <a:solidFill>
                  <a:srgbClr val="E4C67C"/>
                </a:solidFill>
                <a:latin typeface="Inter"/>
              </a:rPr>
              <a:t>HOW YOUR DESIGN SHAPES THE WAY YOU BUILD</a:t>
            </a:r>
          </a:p>
        </p:txBody>
      </p:sp>
      <p:cxnSp>
        <p:nvCxnSpPr>
          <p:cNvPr id="5" name="Connector 4"/>
          <p:cNvCxnSpPr/>
          <p:nvPr/>
        </p:nvCxnSpPr>
        <p:spPr>
          <a:xfrm>
            <a:off x="548640" y="676656"/>
            <a:ext cx="2926080" cy="0"/>
          </a:xfrm>
          <a:prstGeom prst="line">
            <a:avLst/>
          </a:prstGeom>
          <a:ln w="9525">
            <a:solidFill>
              <a:srgbClr val="E4C67C"/>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48640" y="786384"/>
            <a:ext cx="11338560" cy="457200"/>
          </a:xfrm>
          <a:prstGeom prst="rect">
            <a:avLst/>
          </a:prstGeom>
          <a:noFill/>
        </p:spPr>
        <p:txBody>
          <a:bodyPr wrap="square" lIns="0" rIns="0" tIns="0" bIns="0">
            <a:spAutoFit/>
          </a:bodyPr>
          <a:lstStyle/>
          <a:p>
            <a:pPr algn="l">
              <a:lnSpc>
                <a:spcPct val="115000"/>
              </a:lnSpc>
            </a:pPr>
            <a:r>
              <a:rPr sz="2200" b="1" i="0" spc="70">
                <a:solidFill>
                  <a:srgbClr val="F3F8FB"/>
                </a:solidFill>
                <a:latin typeface="Oswald"/>
              </a:rPr>
              <a:t>EVERY PART OF YOUR DESIGN HAS A DIRECT APPLICATION IN YOUR BUSINESS.</a:t>
            </a:r>
          </a:p>
        </p:txBody>
      </p:sp>
      <p:sp>
        <p:nvSpPr>
          <p:cNvPr id="7" name="Rectangle 6"/>
          <p:cNvSpPr/>
          <p:nvPr/>
        </p:nvSpPr>
        <p:spPr>
          <a:xfrm>
            <a:off x="548640" y="1417320"/>
            <a:ext cx="5458968" cy="2331720"/>
          </a:xfrm>
          <a:prstGeom prst="rect">
            <a:avLst/>
          </a:prstGeom>
          <a:solidFill>
            <a:srgbClr val="EAF0F4"/>
            <a:alpha val="78000"/>
          </a:solidFill>
          <a:ln w="9144">
            <a:solidFill>
              <a:srgbClr val="E4C67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86384" y="1600200"/>
            <a:ext cx="4983479" cy="274320"/>
          </a:xfrm>
          <a:prstGeom prst="rect">
            <a:avLst/>
          </a:prstGeom>
          <a:noFill/>
        </p:spPr>
        <p:txBody>
          <a:bodyPr wrap="square" lIns="0" rIns="0" tIns="0" bIns="0">
            <a:spAutoFit/>
          </a:bodyPr>
          <a:lstStyle/>
          <a:p>
            <a:pPr algn="l">
              <a:lnSpc>
                <a:spcPct val="115000"/>
              </a:lnSpc>
            </a:pPr>
            <a:r>
              <a:rPr sz="1400" b="1" i="0" spc="150">
                <a:solidFill>
                  <a:srgbClr val="0C2E49"/>
                </a:solidFill>
                <a:latin typeface="Oswald"/>
              </a:rPr>
              <a:t>YOUR AUTHORITY</a:t>
            </a:r>
          </a:p>
        </p:txBody>
      </p:sp>
      <p:cxnSp>
        <p:nvCxnSpPr>
          <p:cNvPr id="9" name="Connector 8"/>
          <p:cNvCxnSpPr/>
          <p:nvPr/>
        </p:nvCxnSpPr>
        <p:spPr>
          <a:xfrm>
            <a:off x="786384" y="1933041"/>
            <a:ext cx="914400" cy="0"/>
          </a:xfrm>
          <a:prstGeom prst="line">
            <a:avLst/>
          </a:prstGeom>
          <a:ln w="7620">
            <a:solidFill>
              <a:srgbClr val="9A7933"/>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786384" y="2042769"/>
            <a:ext cx="4983479" cy="1523390"/>
          </a:xfrm>
          <a:prstGeom prst="rect">
            <a:avLst/>
          </a:prstGeom>
          <a:noFill/>
        </p:spPr>
        <p:txBody>
          <a:bodyPr wrap="square" lIns="0" rIns="0" tIns="0" bIns="0">
            <a:spAutoFit/>
          </a:bodyPr>
          <a:lstStyle/>
          <a:p>
            <a:pPr algn="l">
              <a:lnSpc>
                <a:spcPct val="134000"/>
              </a:lnSpc>
            </a:pPr>
            <a:r>
              <a:rPr sz="950" b="0" i="1">
                <a:solidFill>
                  <a:srgbClr val="0E1C2C"/>
                </a:solidFill>
                <a:latin typeface="Playfair Display"/>
              </a:rPr>
              <a:t>Every business decision you make lands differently when it comes from your authority instead of your fear, your logic, or someone else's timeline. Pricing. Offers. Partnerships. Launch timing. Let your body lead.</a:t>
            </a:r>
          </a:p>
        </p:txBody>
      </p:sp>
      <p:sp>
        <p:nvSpPr>
          <p:cNvPr id="11" name="Rectangle 10"/>
          <p:cNvSpPr/>
          <p:nvPr/>
        </p:nvSpPr>
        <p:spPr>
          <a:xfrm>
            <a:off x="6190488" y="1417320"/>
            <a:ext cx="5458968" cy="2331720"/>
          </a:xfrm>
          <a:prstGeom prst="rect">
            <a:avLst/>
          </a:prstGeom>
          <a:solidFill>
            <a:srgbClr val="EAF0F4"/>
            <a:alpha val="78000"/>
          </a:solidFill>
          <a:ln w="9144">
            <a:solidFill>
              <a:srgbClr val="E4C67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28231" y="1600200"/>
            <a:ext cx="4983479" cy="274320"/>
          </a:xfrm>
          <a:prstGeom prst="rect">
            <a:avLst/>
          </a:prstGeom>
          <a:noFill/>
        </p:spPr>
        <p:txBody>
          <a:bodyPr wrap="square" lIns="0" rIns="0" tIns="0" bIns="0">
            <a:spAutoFit/>
          </a:bodyPr>
          <a:lstStyle/>
          <a:p>
            <a:pPr algn="l">
              <a:lnSpc>
                <a:spcPct val="115000"/>
              </a:lnSpc>
            </a:pPr>
            <a:r>
              <a:rPr sz="1400" b="1" i="0" spc="150">
                <a:solidFill>
                  <a:srgbClr val="0C2E49"/>
                </a:solidFill>
                <a:latin typeface="Oswald"/>
              </a:rPr>
              <a:t>YOUR AURA</a:t>
            </a:r>
          </a:p>
        </p:txBody>
      </p:sp>
      <p:cxnSp>
        <p:nvCxnSpPr>
          <p:cNvPr id="13" name="Connector 12"/>
          <p:cNvCxnSpPr/>
          <p:nvPr/>
        </p:nvCxnSpPr>
        <p:spPr>
          <a:xfrm>
            <a:off x="6428231" y="1933041"/>
            <a:ext cx="914400" cy="0"/>
          </a:xfrm>
          <a:prstGeom prst="line">
            <a:avLst/>
          </a:prstGeom>
          <a:ln w="7620">
            <a:solidFill>
              <a:srgbClr val="9A7933"/>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6428231" y="2042769"/>
            <a:ext cx="4983479" cy="1523390"/>
          </a:xfrm>
          <a:prstGeom prst="rect">
            <a:avLst/>
          </a:prstGeom>
          <a:noFill/>
        </p:spPr>
        <p:txBody>
          <a:bodyPr wrap="square" lIns="0" rIns="0" tIns="0" bIns="0">
            <a:spAutoFit/>
          </a:bodyPr>
          <a:lstStyle/>
          <a:p>
            <a:pPr algn="l">
              <a:lnSpc>
                <a:spcPct val="134000"/>
              </a:lnSpc>
            </a:pPr>
            <a:r>
              <a:rPr sz="950" b="0" i="1">
                <a:solidFill>
                  <a:srgbClr val="0E1C2C"/>
                </a:solidFill>
                <a:latin typeface="Playfair Display"/>
              </a:rPr>
              <a:t>Your aura is always broadcasting. When you are in alignment with your design you stop chasing clients and start calling them in. The right people feel you before they can explain why.</a:t>
            </a:r>
          </a:p>
        </p:txBody>
      </p:sp>
      <p:sp>
        <p:nvSpPr>
          <p:cNvPr id="15" name="Rectangle 14"/>
          <p:cNvSpPr/>
          <p:nvPr/>
        </p:nvSpPr>
        <p:spPr>
          <a:xfrm>
            <a:off x="548640" y="3858768"/>
            <a:ext cx="5458968" cy="2331720"/>
          </a:xfrm>
          <a:prstGeom prst="rect">
            <a:avLst/>
          </a:prstGeom>
          <a:solidFill>
            <a:srgbClr val="EAF0F4"/>
            <a:alpha val="78000"/>
          </a:solidFill>
          <a:ln w="9144">
            <a:solidFill>
              <a:srgbClr val="E4C67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86384" y="4041648"/>
            <a:ext cx="4983479" cy="274320"/>
          </a:xfrm>
          <a:prstGeom prst="rect">
            <a:avLst/>
          </a:prstGeom>
          <a:noFill/>
        </p:spPr>
        <p:txBody>
          <a:bodyPr wrap="square" lIns="0" rIns="0" tIns="0" bIns="0">
            <a:spAutoFit/>
          </a:bodyPr>
          <a:lstStyle/>
          <a:p>
            <a:pPr algn="l">
              <a:lnSpc>
                <a:spcPct val="115000"/>
              </a:lnSpc>
            </a:pPr>
            <a:r>
              <a:rPr sz="1400" b="1" i="0" spc="150">
                <a:solidFill>
                  <a:srgbClr val="0C2E49"/>
                </a:solidFill>
                <a:latin typeface="Oswald"/>
              </a:rPr>
              <a:t>YOUR PROFILE</a:t>
            </a:r>
          </a:p>
        </p:txBody>
      </p:sp>
      <p:cxnSp>
        <p:nvCxnSpPr>
          <p:cNvPr id="17" name="Connector 16"/>
          <p:cNvCxnSpPr/>
          <p:nvPr/>
        </p:nvCxnSpPr>
        <p:spPr>
          <a:xfrm>
            <a:off x="786384" y="4374489"/>
            <a:ext cx="914400" cy="0"/>
          </a:xfrm>
          <a:prstGeom prst="line">
            <a:avLst/>
          </a:prstGeom>
          <a:ln w="7620">
            <a:solidFill>
              <a:srgbClr val="9A7933"/>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786384" y="4484217"/>
            <a:ext cx="4983479" cy="1523390"/>
          </a:xfrm>
          <a:prstGeom prst="rect">
            <a:avLst/>
          </a:prstGeom>
          <a:noFill/>
        </p:spPr>
        <p:txBody>
          <a:bodyPr wrap="square" lIns="0" rIns="0" tIns="0" bIns="0">
            <a:spAutoFit/>
          </a:bodyPr>
          <a:lstStyle/>
          <a:p>
            <a:pPr algn="l">
              <a:lnSpc>
                <a:spcPct val="134000"/>
              </a:lnSpc>
            </a:pPr>
            <a:r>
              <a:rPr sz="950" b="0" i="1">
                <a:solidFill>
                  <a:srgbClr val="0E1C2C"/>
                </a:solidFill>
                <a:latin typeface="Playfair Display"/>
              </a:rPr>
              <a:t>Your profile tells you the role you came to play. The investigator who needs to know everything before they begin. The hermit who creates best in solitude. The martyr who learns by doing and failing forward. The opportunist whose network is their net worth. The heretic who offers practical solutions to real problems. The role model who is always exactly on time.</a:t>
            </a:r>
          </a:p>
        </p:txBody>
      </p:sp>
      <p:sp>
        <p:nvSpPr>
          <p:cNvPr id="19" name="Rectangle 18"/>
          <p:cNvSpPr/>
          <p:nvPr/>
        </p:nvSpPr>
        <p:spPr>
          <a:xfrm>
            <a:off x="6190488" y="3858768"/>
            <a:ext cx="5458968" cy="2331720"/>
          </a:xfrm>
          <a:prstGeom prst="rect">
            <a:avLst/>
          </a:prstGeom>
          <a:solidFill>
            <a:srgbClr val="EAF0F4"/>
            <a:alpha val="78000"/>
          </a:solidFill>
          <a:ln w="9144">
            <a:solidFill>
              <a:srgbClr val="E4C67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28231" y="4041648"/>
            <a:ext cx="4983479" cy="274320"/>
          </a:xfrm>
          <a:prstGeom prst="rect">
            <a:avLst/>
          </a:prstGeom>
          <a:noFill/>
        </p:spPr>
        <p:txBody>
          <a:bodyPr wrap="square" lIns="0" rIns="0" tIns="0" bIns="0">
            <a:spAutoFit/>
          </a:bodyPr>
          <a:lstStyle/>
          <a:p>
            <a:pPr algn="l">
              <a:lnSpc>
                <a:spcPct val="115000"/>
              </a:lnSpc>
            </a:pPr>
            <a:r>
              <a:rPr sz="1400" b="1" i="0" spc="150">
                <a:solidFill>
                  <a:srgbClr val="0C2E49"/>
                </a:solidFill>
                <a:latin typeface="Oswald"/>
              </a:rPr>
              <a:t>YOUR ENERGY TYPE AND REST</a:t>
            </a:r>
          </a:p>
        </p:txBody>
      </p:sp>
      <p:cxnSp>
        <p:nvCxnSpPr>
          <p:cNvPr id="21" name="Connector 20"/>
          <p:cNvCxnSpPr/>
          <p:nvPr/>
        </p:nvCxnSpPr>
        <p:spPr>
          <a:xfrm>
            <a:off x="6428231" y="4374489"/>
            <a:ext cx="914400" cy="0"/>
          </a:xfrm>
          <a:prstGeom prst="line">
            <a:avLst/>
          </a:prstGeom>
          <a:ln w="7620">
            <a:solidFill>
              <a:srgbClr val="9A7933"/>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6428231" y="4484217"/>
            <a:ext cx="4983479" cy="1523390"/>
          </a:xfrm>
          <a:prstGeom prst="rect">
            <a:avLst/>
          </a:prstGeom>
          <a:noFill/>
        </p:spPr>
        <p:txBody>
          <a:bodyPr wrap="square" lIns="0" rIns="0" tIns="0" bIns="0">
            <a:spAutoFit/>
          </a:bodyPr>
          <a:lstStyle/>
          <a:p>
            <a:pPr algn="l">
              <a:lnSpc>
                <a:spcPct val="134000"/>
              </a:lnSpc>
            </a:pPr>
            <a:r>
              <a:rPr sz="950" b="0" i="1">
                <a:solidFill>
                  <a:srgbClr val="0E1C2C"/>
                </a:solidFill>
                <a:latin typeface="Playfair Display"/>
              </a:rPr>
              <a:t>Every type has a different relationship with energy and output. When you stop pushing against your natural rhythm and start honoring it your creativity, your clarity, and your income all expand.</a:t>
            </a:r>
          </a:p>
        </p:txBody>
      </p:sp>
      <p:sp>
        <p:nvSpPr>
          <p:cNvPr id="23" name="TextBox 22"/>
          <p:cNvSpPr txBox="1"/>
          <p:nvPr/>
        </p:nvSpPr>
        <p:spPr>
          <a:xfrm>
            <a:off x="548640" y="6455664"/>
            <a:ext cx="11064240" cy="365760"/>
          </a:xfrm>
          <a:prstGeom prst="rect">
            <a:avLst/>
          </a:prstGeom>
          <a:noFill/>
        </p:spPr>
        <p:txBody>
          <a:bodyPr wrap="square" lIns="0" rIns="0" tIns="0" bIns="0">
            <a:spAutoFit/>
          </a:bodyPr>
          <a:lstStyle/>
          <a:p>
            <a:pPr algn="ctr">
              <a:lnSpc>
                <a:spcPct val="115000"/>
              </a:lnSpc>
            </a:pPr>
            <a:r>
              <a:rPr sz="1500" b="1" i="1">
                <a:solidFill>
                  <a:srgbClr val="E4C67C"/>
                </a:solidFill>
                <a:latin typeface="Playfair Display"/>
              </a:rPr>
              <a:t>Leadership built from design is sustainable. Leadership built from imitation burns out.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